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AMITY UNIVERSITY, NOIDA  •  BTECH CSE  •  NTCC VIVA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Semantic Image 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669BBC"/>
                </a:solidFill>
                <a:latin typeface="Calibri"/>
              </a:rPr>
              <a:t>using CLIP for Cross-Modal Retrieval and Vision-Language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9BBC"/>
                </a:solidFill>
                <a:latin typeface="Calibri"/>
              </a:rPr>
              <a:t>Presented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DHRUV SINGHAL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9BBC"/>
                </a:solidFill>
                <a:latin typeface="Calibri"/>
              </a:rPr>
              <a:t>Enrollment No: A2305224486  |  BTECH CSE 2024–2028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9BBC"/>
                </a:solidFill>
                <a:latin typeface="Calibri"/>
              </a:rPr>
              <a:t>Under the guidance of: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Dr. Rakesh Chandra Joshi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69BBC"/>
                </a:solidFill>
                <a:latin typeface="Calibri"/>
              </a:rPr>
              <a:t>Assistant Professor, Amity Centre for Artificial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651760"/>
            <a:ext cx="34747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651760"/>
            <a:ext cx="3474720" cy="4114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PROJECT AT A GLANCE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00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4015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Flickr8k · CC3M · RF/Telemetry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11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13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CLIP · BLIP · ALIGN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0233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Search modes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2245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T2I · I2T · I2I · Semantic vs Lexical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4348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6360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ONNX + INT8, CPU &lt;100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463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Live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0474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image-search-app.streamlit.app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In Partial Fulfilment of the Requirement for the Degree of Bachelor of Technology in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15-slide walkthrough of motivation, methodology, results, and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326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Motivation &amp;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9844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Vocabulary mismatch → CLIP solution → why domain adaptation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Research Objectives &amp;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58567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5 goals + 4 key contributions of this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5292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Related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1868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CLIP, ALIGN, BLIP-2, CoOp, MaPLe, MobileCLIP, SigLIP, MARVEL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130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Datasets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7880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Flickr8k (8K RF/telemetry) + CC3M (1K) + OOD-RF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731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Methodology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3892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Dual-tower · 2-layer MLP head · warm-start · InfoNCE loss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1500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150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332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PEFT &amp; Domain Adaptation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09904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Freeze 99% backbone, train only projection head (0.06–0.4% params)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91440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9144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9326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Dense Retrieval &amp; ONNX/INT8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129844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FAISS IndexFlatIP + ONNX export + dynamic INT8 quantisation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874519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874519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892807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258567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Precision@K, latency, cross-model benchmark, dense vs sparse, ablations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83464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28346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85292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Live Demo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1868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5 tabs of the Streamlit app · spectrogram + text-refinement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79476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7947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8130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WPR Bugs &amp; Fixes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17880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5 critical deploy failures and their resolutions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94360" cy="5943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47548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7731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13892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6 directions: MobileCLIP, SigLIP, video, continual, hybrid, active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Why vision-language retrieval needs domain adaptation, not just bigger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21208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45720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Vocabulary Mismatch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Traditional search uses captions + BM25 / TF-IDF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Fails on semantically equivalent but lexically different pairs: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Query: "a vivacious furry companion darting across a sandy waterfront"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Gold caption: "dog running on beach"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→ 0 keywords match, BM25 score = 0.0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Pre-trained VLMs (CLIP, ALIGN) solve this — 400M image-text pairs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But: trained on natural photos only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Specialised domains (RF, spectrograms, telemetry) remain OOD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Full fine-tuning of ViT-H/14 needs &gt;40 GB VRAM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Naive fine-tuning causes catastrophic forgetting of zero-shot 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66928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669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5669280" cy="4572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789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Our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1">
                <a:solidFill>
                  <a:srgbClr val="1A1A1A"/>
                </a:solidFill>
                <a:latin typeface="Calibri"/>
              </a:rPr>
              <a:t>Core problem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Build a cross-modal retrieval engine that: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Returns Top-K in &lt;100 ms on CPU-only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Supports T2I, I2I, I2T queries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Preserves the encoder's open-vocabulary ability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Adapts to specialised domains (RF/telemetry)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Constraint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Fine-tune on a curated corpus of 8K image-text pairs only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Solution direction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003049"/>
                </a:solidFill>
                <a:latin typeface="Calibri"/>
              </a:rPr>
              <a:t>▸  </a:t>
            </a:r>
            <a:r>
              <a:rPr sz="1300" b="0">
                <a:solidFill>
                  <a:srgbClr val="1A1A1A"/>
                </a:solidFill>
                <a:latin typeface="Calibri"/>
              </a:rPr>
              <a:t>Parameter-efficient fine-tuning (PEFT):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Freeze 99% of ViT + text transformer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Train only the cross-modal projection head</a:t>
            </a:r>
          </a:p>
          <a:p>
            <a:pPr algn="l" lvl="1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AAAAAA"/>
                </a:solidFill>
                <a:latin typeface="Calibri"/>
              </a:rPr>
              <a:t>•   </a:t>
            </a:r>
            <a:r>
              <a:rPr sz="1100">
                <a:solidFill>
                  <a:srgbClr val="555555"/>
                </a:solidFill>
                <a:latin typeface="Calibri"/>
              </a:rPr>
              <a:t>~590K trainable params (~0.1% of backbone)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Research Objectives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5 research goals, 4 key contributions — all backed by the WPR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3049"/>
                </a:solidFill>
                <a:latin typeface="Calibri"/>
              </a:rPr>
              <a:t>5 Research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40080" cy="6400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Parameter-Efficient Domain Adaptation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647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adapt frozen CLIP to RF/telemetry via projection-head-only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640080" cy="6400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Cross-Modal Benchmarking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334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compare CLIP, BLIP-2, ALIGN on retrieval + captioning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640080" cy="6400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Dense vs Sparse Retrieval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02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show dense latent beats BM25/TF-IDF on zero-overlap queries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59"/>
            <a:ext cx="640080" cy="6400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2335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2335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Edge Deployment &amp; Quantisation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70831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ONNX + INT8 → &lt;100 ms CPU latency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640080" cy="64008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92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Alternative Loss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395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InfoNCE vs SigLIP — when to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3049"/>
                </a:solidFill>
                <a:latin typeface="Calibri"/>
              </a:rPr>
              <a:t>4 Key Contributions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417320"/>
            <a:ext cx="5486400" cy="9144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417320"/>
            <a:ext cx="109728" cy="9144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508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3049"/>
                </a:solidFill>
                <a:latin typeface="Calibri"/>
              </a:rPr>
              <a:t>End-to-end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Streamlit app with 5 search modes + reactive UI + query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14600"/>
            <a:ext cx="5486400" cy="9144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514600"/>
            <a:ext cx="109728" cy="9144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606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3049"/>
                </a:solidFill>
                <a:latin typeface="Calibri"/>
              </a:rPr>
              <a:t>PEFT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Fine-tune CLIP/BLIP-2/ALIGN projection heads on RF/telemetry, +13.4 pp P@1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611880"/>
            <a:ext cx="5486400" cy="9144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611880"/>
            <a:ext cx="109728" cy="9144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3049"/>
                </a:solidFill>
                <a:latin typeface="Calibri"/>
              </a:rPr>
              <a:t>Dense-vs-sparse 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023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Zero-keyword-overlap benchmark: CLIP 62.3% vs BM25 18.2% vs TF-IDF 12.5%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709159"/>
            <a:ext cx="5486400" cy="9144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709159"/>
            <a:ext cx="109728" cy="9144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800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3049"/>
                </a:solidFill>
                <a:latin typeface="Calibri"/>
              </a:rPr>
              <a:t>ONNX + INT8 pipeline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1206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3.1× speedup, 15.5 MB bundle, &lt;70 ms CPU latency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10 SOTA papers, organised by the 4 subfields this thesis integrates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VLM Pre-training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743200" cy="475488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CLIP (Radford 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3911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400M pairs, dual-tower InfoNCE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ALIGN (Jia 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4787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noisy labels, ViT-H/14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BLIP-2 (Li 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5663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Q-Former + frozen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078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PEFT &amp; Adapters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508760"/>
            <a:ext cx="2743200" cy="475488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691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CLIP-Adapter (Gao 2021)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03911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bottleneck + residual 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CoOp (Zhou 2022)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54787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learnable soft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MaPLe (Khattak 2023)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05663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deep branch-aware prompts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078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Retrieval &amp; Loss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08760"/>
            <a:ext cx="2743200" cy="475488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691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MARVEL (Zhou 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3911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dense &gt; sparse, +5.7% R@10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SigLIP (Zhai 2023)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4787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pairwise sigmoid, big-batch friendly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AudioCLIP (Guzhov 2022)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05663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extends to non-standard modalities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1005840"/>
            <a:ext cx="2743200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078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Edge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508760"/>
            <a:ext cx="2743200" cy="475488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691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MobileCLIP (Vasu 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03911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RLHF distillation for 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Q-VLM (Wang 2024)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54787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post-training quantisation for VLMs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709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80000"/>
                </a:solidFill>
                <a:latin typeface="Calibri"/>
              </a:rPr>
              <a:t>Don't Stop Learning (Ding 2023)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505663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— continual learning for CLIP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003049"/>
                </a:solidFill>
                <a:latin typeface="Calibri"/>
              </a:rPr>
              <a:t>Our integration: 4 previously disjoint subfields combined into one working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3 corpora: Flickr8k (in-domain), CC3M (training), RF/telemetry (specialised)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8229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Flickr8k — Primary Gallery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8,000 image-text 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749039" cy="443484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Standard Flickr30k archive, keyword-filtered for RF/telemetry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Filter keywords: radio, frequency, spectrum, signal, wave, modulation, transmission, antenna, wireless, QAM, PSK, FSK, OFDM, channel, interference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9,200 candidates → uniformly sampled 8,000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Split: 6,400 train / 1,600 held-out validation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Used as the searchable gallery in the live demo (300-img subset for cloud)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3749039" cy="82296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051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CC3M — Conceptual Captions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3716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1,000 image-text pairs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749039" cy="443484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HuggingFace `pixparse/cc3m-wds` mirror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Subset of 3.3M web-scraped image-caption pairs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Used for initial CPU-based training (small scale)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Demonstrates training loop stability without GPU acceleration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Verifies that the projection-head-only strategy is viable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05840"/>
            <a:ext cx="3749039" cy="82296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051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RF / Telemetry (OOD)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3716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Synthetic + real RF captures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749039" cy="443484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6596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STFT spectrograms (1024 window, 256 hop, Hanning, viridis)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Generates pseudo-spectrograms from synthetic signals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Used for OOD benchmark in Tab 5 of the demo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Tests graceful-degradation behaviour ("Relative Semantic Proxy effect")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Future: extend to birdsong, radar, medical imaging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Methodology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Dual-tower CLIP with parameter-efficient projection head + dense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011680" cy="109728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9BBC"/>
                </a:solidFill>
                <a:latin typeface="Calibri"/>
              </a:rPr>
              <a:t>Text (T2I)
Image (I2I/T2I)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914400"/>
            <a:ext cx="2103120" cy="1371600"/>
          </a:xfrm>
          <a:prstGeom prst="rect">
            <a:avLst/>
          </a:prstGeom>
          <a:solidFill>
            <a:srgbClr val="669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960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IMAGE TOWER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8016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ViT-B/32 or ViT-L/14
(FROZEN)
→ 512-d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68880"/>
            <a:ext cx="2103120" cy="1371600"/>
          </a:xfrm>
          <a:prstGeom prst="rect">
            <a:avLst/>
          </a:prstGeom>
          <a:solidFill>
            <a:srgbClr val="669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TEXT TOWER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Transformer
(FROZEN)
→ 512-d feature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691640"/>
            <a:ext cx="2286000" cy="1371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737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PROJECTION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05740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2-layer MLP
512→384→256
GELU + dropout 0.1
(TRAINABLE)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1463040" cy="13716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373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L2 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057400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9BBC"/>
                </a:solidFill>
                <a:latin typeface="Calibri"/>
              </a:rPr>
              <a:t>→ 256-d unit
vector on
hypersphere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1691640"/>
            <a:ext cx="1737360" cy="137160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7373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057400"/>
            <a:ext cx="1737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IndexFlatIP
exact NN
Top-K cosine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137160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3049"/>
                </a:solidFill>
                <a:latin typeface="Consolas"/>
              </a:rPr>
              <a:t>─────▶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01752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3049"/>
                </a:solidFill>
                <a:latin typeface="Consolas"/>
              </a:rPr>
              <a:t>─────▶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3049"/>
                </a:solidFill>
                <a:latin typeface="Consolas"/>
              </a:rPr>
              <a:t>─────▶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3049"/>
                </a:solidFill>
                <a:latin typeface="Consolas"/>
              </a:rPr>
              <a:t>─────▶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003049"/>
                </a:solidFill>
                <a:latin typeface="Consolas"/>
              </a:rPr>
              <a:t>─────▶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4114800"/>
            <a:ext cx="8961120" cy="731520"/>
          </a:xfrm>
          <a:prstGeom prst="rect">
            <a:avLst/>
          </a:prstGeom>
          <a:solidFill>
            <a:srgbClr val="FDF0D5"/>
          </a:solidFill>
          <a:ln w="9525">
            <a:solidFill>
              <a:srgbClr val="00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416052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3049"/>
                </a:solidFill>
                <a:latin typeface="Calibri"/>
              </a:rPr>
              <a:t>Training Loss: Symmetric InfoNCE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48056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τ = 0.07  |  AdamW (lr=3e-4, weight_decay=0.01)  |  5 warmup + cosine LR  |  Batch=128  |  FP16 backbone + FP32 Adam states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Key Design Choices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40680"/>
            <a:ext cx="11430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Warm-start: MLP output initialised to resemble original CLIP embedding projected onto first 256 PCs (under L2)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Symmetric loss = (image-to-text + text-to-image) / 2 → embedding space is consistent for both directions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Cosine similarity on L2-normalised vectors = simple dot product → trivial to FAISS-index and parallelise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PEFT &amp; Domain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Why we only train 0.06–0.4% of the parameters — and how warm-start saves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Parameter-Efficient Breakdown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params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Trainable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of total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ViT-B/32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~151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~590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ViT-L/14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~430 M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~590 K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0.14%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ViT-H/14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~1.0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~590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CLIP-Adapter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≈ 0.10%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≈ 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Warm-Start Initialisation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669280" cy="22860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At t=0, the new MLP output is initialised to look like the original CLIP embedding projected onto its first 256 principal components (under L2 norm).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This makes the head an "identity-like" mapping within the original subspace.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Training then smoothly reshapes the geometry without destabilising gradients.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03049"/>
                </a:solidFill>
                <a:latin typeface="Calibri"/>
              </a:rPr>
              <a:t>▸  </a:t>
            </a:r>
            <a:r>
              <a:rPr sz="1100" b="0">
                <a:solidFill>
                  <a:srgbClr val="1A1A1A"/>
                </a:solidFill>
                <a:latin typeface="Calibri"/>
              </a:rPr>
              <a:t>Empirically: enables +9.7 pp gain at P@1 from PEFT alone (vs +0 if random init).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1430000" cy="22860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Why This Matters in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80"/>
            <a:ext cx="10972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Trains comfortably on Kaggle dual-T4 (2 × 16 GB) — peak VRAM 9.8 GB for L/14, 14.2 GB for H/14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Avoids catastrophic forgetting: the frozen FFN blocks preserve out-of-distribution zero-shot ability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Conforms to CLIP-Adapter, CoOp, MaPLe precedent — rigorously validated in the literature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▸  </a:t>
            </a:r>
            <a:r>
              <a:rPr sz="1200" b="0">
                <a:solidFill>
                  <a:srgbClr val="FFFFFF"/>
                </a:solidFill>
                <a:latin typeface="Calibri"/>
              </a:rPr>
              <a:t>2-layer MLP &gt; 1-layer linear: +2.5 pp at P@1 (MaPLe thesis confirmed: deeper non-linear projections capture richer cross-modal alignment)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Dense Retrieval &amp; ONNX / INT8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FAISS for sub-millisecond lookup + dynamic quantisation for CPU edge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669280" cy="530352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669280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FAISS IndexFlatIP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All 8K gallery images pre-encoded into 256-d unit vectors (L2-normalised)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IndexFlatIP = Inner-Product on L2-normalised vectors ≡ cosine similarity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Exact nearest-neighbour (no approximation error) — fine for 8K corpus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FAISS lookup = 1 ms per query on a single CPU core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Thread-safe read-only accessor + @st.cache_resource → multiple concurrent Streamlit sessions don't race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Result: sub-second end-to-end retrieval, even on the 1 GB Streamlit Cloud sandbox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669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5669280" cy="50292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789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ONNX + INT8 Quantisation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Export PyTorch backbone → ONNX (opset 17, dynamic_axes for variable batch)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Why opset 17 not 18+: Streamlit Cloud ships fixed ONNX Runtime that doesn't support 18+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Dynamic INT8 quantisation: weights pre-quantised, activations quantised at runtime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Per-channel weight quantisation (scale + zero-point per output channel) → minimises L2 error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Deployment bundle = 15.5 MB (only the projection-head weights; backbone re-downloaded at launch)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Result: 3.1× speedup vs PyTorch FP32, &lt;70 ms CPU end-to-end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— Precision@K &amp; Ablations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PEFT delivers +13.4 pp at P@1; every design choice in the ladder adds measurable 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146304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+13.4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Precision@1 gain (fine-tuned 2-layer MLP vs pretrained CLIP baseline)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05840"/>
            <a:ext cx="2743200" cy="146304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97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+18.8%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Relative gain at P@5 (84.6% vs 71.2%)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743200" cy="146304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+10.5%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Relative gain at P@10 (91.4% vs 82.7%)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05840"/>
            <a:ext cx="2743200" cy="146304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63.0%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7830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P@1 (full pipeline: 2-layer MLP + GELU + dropout 0.1 + augmentation)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Ablation Ladder — Every Design Choice Adds Gain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1546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Precision@1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vs. zero-shot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(a) Zero-shot CLIP (no fine-tuning)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(b) Fine-tuned 1-layer linear projection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58.6%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+9.7 pp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(c) Fine-tuned 2-layer MLP with GELU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+12.2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(d) Fine-tuned 2-layer MLP with ReLU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59.9%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+11.0 pp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(e) + Dropout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+13.4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(f) + Data augmentation (H-flip + text rewrite)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63.0%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+14.1 pp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Takeaway: PEFT alone gives +9.7 pp (the single biggest jump) — every additional design choice compounds on top of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— Latency &amp; Cross-Model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Sub-100 ms CPU latency + ALIGN &gt; BLIP-2 &gt; CLIP on RF/telemetry fine-tuning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End-to-End Query Latency (CPU, Batch=1, ViT-L/14)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PyTorch FP32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PyTorch FP16 (AMP)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~95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~2.2×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ONNX + INT8 (deployed)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68 ms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3.1×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566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Per-Stage Breakdown (ONNX+INT8)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977639"/>
            <a:ext cx="5486400" cy="27432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95927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Tokenisation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95927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2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70248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28853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Text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885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28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62855"/>
            <a:ext cx="5486400" cy="27432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81143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Projection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81143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4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55464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7375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FAISS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737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1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48072"/>
            <a:ext cx="5486400" cy="27432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16636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Image preprocessing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663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8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40679"/>
            <a:ext cx="54864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58967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Image encoder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58967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20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733288"/>
            <a:ext cx="5486400" cy="27432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5157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Streamlit UI 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75157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03049"/>
                </a:solidFill>
                <a:latin typeface="Calibri"/>
              </a:rPr>
              <a:t>5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Cross-Model Benchmark (RF/telemetry val set, n=1600)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0936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P@1 (Zero-shot)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P@1 (Fine-tuned)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CLIP  (ViT-B/32)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CLIP  (ViT-L/14)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121F"/>
                          </a:solidFill>
                          <a:latin typeface="Calibri"/>
                        </a:rPr>
                        <a:t>ALIGN (ViT-H/14)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121F"/>
                          </a:solidFill>
                          <a:latin typeface="Calibri"/>
                        </a:rPr>
                        <a:t>54.2%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121F"/>
                          </a:solidFill>
                          <a:latin typeface="Calibri"/>
                        </a:rPr>
                        <a:t>68.5%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BLIP-2 (L/14+Q+OPT)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6309360" y="3566160"/>
            <a:ext cx="5486400" cy="27432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657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Cross-Model Takeaways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1148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C1121F"/>
                </a:solidFill>
                <a:latin typeface="Calibri"/>
              </a:rPr>
              <a:t>▸  </a:t>
            </a:r>
            <a:r>
              <a:rPr sz="1100" b="0">
                <a:solidFill>
                  <a:srgbClr val="FFFFFF"/>
                </a:solidFill>
                <a:latin typeface="Calibri"/>
              </a:rPr>
              <a:t>ALIGN (ViT-H/14) wins on P@1 — largest backbone, biggest pre-training corpus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C1121F"/>
                </a:solidFill>
                <a:latin typeface="Calibri"/>
              </a:rPr>
              <a:t>▸  </a:t>
            </a:r>
            <a:r>
              <a:rPr sz="1100" b="0">
                <a:solidFill>
                  <a:srgbClr val="FFFFFF"/>
                </a:solidFill>
                <a:latin typeface="Calibri"/>
              </a:rPr>
              <a:t>BLIP-2 generates best captions but lower retrieval P@1 (Q-Former trained for generation, not discrimination)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C1121F"/>
                </a:solidFill>
                <a:latin typeface="Calibri"/>
              </a:rPr>
              <a:t>▸  </a:t>
            </a:r>
            <a:r>
              <a:rPr sz="1100" b="0">
                <a:solidFill>
                  <a:srgbClr val="FFFFFF"/>
                </a:solidFill>
                <a:latin typeface="Calibri"/>
              </a:rPr>
              <a:t>CLIP ViT-B/32: best latency/quality trade-off → chosen for live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Results — Dense vs Sparse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On zero-keyword-overlap queries, dense latent decisively beats lexical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1188720"/>
          </a:xfrm>
          <a:prstGeom prst="rect">
            <a:avLst/>
          </a:prstGeom>
          <a:solidFill>
            <a:srgbClr val="FDF0D5"/>
          </a:solidFill>
          <a:ln w="9525">
            <a:solidFill>
              <a:srgbClr val="78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780000"/>
                </a:solidFill>
                <a:latin typeface="Calibri"/>
              </a:rPr>
              <a:t>The Canonical Zero-Overlap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Query: "a vivacious furry companion darting across a sandy waterfront"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Gold caption: "dog running on beach"    →    0 keyword tokens in common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Precision@1 on Zero-Keyword-Overlap Queries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83464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Retrieval Method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P@1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Vocab-Mismatch Robust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CLIP  (Latent, Fine-Tuned)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BM25  (Lexical)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TF-IDF (Lexical)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CLIP  (strict-zero subset, n=120)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58.7%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1121F"/>
                          </a:solidFill>
                          <a:latin typeface="Calibri"/>
                        </a:rPr>
                        <a:t>Yes (truly zero overlap)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BM25 / TF-IDF (strict-zero subset)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Complete failure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5394960"/>
            <a:ext cx="11430000" cy="100584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Lexical retrieval (BM25, TF-IDF) is fundamentally a token-matching operation — it cannot bridge the vocabulary gap. Dense latent retrieval maps both query and image into a shared 256-d space where semantic neighbours are easily found. This is the entire motivation for VLM-based retrieval.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Live Demo — 5 Tabs of the Streamlit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Hosted at image-search-app-fxwnabswg8tdmbcy5syym3.streamlit.app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194560" cy="4572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Tab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194560" cy="1828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Text →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Search box + Top-K slider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Optional ONNX mode (FP32/INT8)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Cosine score bars per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005840"/>
            <a:ext cx="2194560" cy="45720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078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Tab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1463040"/>
            <a:ext cx="2194560" cy="1828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Image → Caption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1920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Upload any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19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BLIP-2 generates 1 natural-language caption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19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Cross-check against Flickr8k captions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005840"/>
            <a:ext cx="2194560" cy="4572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078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Tab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463040"/>
            <a:ext cx="2194560" cy="1828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Semantic vs Keyword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20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CLIP vs TF-IDF vs BM25 side-by-side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Shows the dense-vs-sparse gap in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Same query → 3 different rankings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1005840"/>
            <a:ext cx="2194560" cy="457200"/>
          </a:xfrm>
          <a:prstGeom prst="rect">
            <a:avLst/>
          </a:prstGeom>
          <a:solidFill>
            <a:srgbClr val="669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19" y="1078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Tab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19" y="1463040"/>
            <a:ext cx="2194560" cy="1828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59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CLIP vs BLIP vs ALIGN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1920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3-column model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59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Per-model latency (ms)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Per-model top-5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1005840"/>
            <a:ext cx="2194560" cy="4572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1078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Tab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1463040"/>
            <a:ext cx="2194560" cy="1828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554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3049"/>
                </a:solidFill>
                <a:latin typeface="Calibri"/>
              </a:rPr>
              <a:t>Image → Image (Reverse Search)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19202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Upload query → encode → find similar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Optional text context (OOD fix)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• Low-score auto-warning for spectrograms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566160"/>
            <a:ext cx="11430000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63016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 Datasets in the Demo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160520"/>
            <a:ext cx="3657600" cy="82296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245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Flickr8k (300-img subset)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445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in-domain natural images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78808" y="4160520"/>
            <a:ext cx="3657600" cy="82296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42245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CC3M (1K pairs)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45445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pre-training proxy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91856" y="4160520"/>
            <a:ext cx="3657600" cy="82296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9016" y="42245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OOD-RF (synthetic)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29016" y="45445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out-of-distribution 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66360"/>
            <a:ext cx="11430000" cy="123444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ONNX Mode (FP32 vs INT8)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C1121F"/>
                </a:solidFill>
                <a:latin typeface="Calibri"/>
              </a:rPr>
              <a:t>▸  </a:t>
            </a:r>
            <a:r>
              <a:rPr sz="1100" b="0">
                <a:solidFill>
                  <a:srgbClr val="FFFFFF"/>
                </a:solidFill>
                <a:latin typeface="Calibri"/>
              </a:rPr>
              <a:t>FP32 = full precision (slower, larger, baseline accuracy)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C1121F"/>
                </a:solidFill>
                <a:latin typeface="Calibri"/>
              </a:rPr>
              <a:t>▸  </a:t>
            </a:r>
            <a:r>
              <a:rPr sz="1100" b="0">
                <a:solidFill>
                  <a:srgbClr val="FFFFFF"/>
                </a:solidFill>
                <a:latin typeface="Calibri"/>
              </a:rPr>
              <a:t>INT8 = dynamic quantised (3.1× faster, 4× smaller, accuracy preserved within 1-2%)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WPR Bugs, Failures &amp; Pending Work —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5 critical deploy failures hit between WPR9 and the viva; all 5 fixed and live on the cloud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3049"/>
                </a:solidFill>
                <a:latin typeface="Calibri"/>
              </a:rPr>
              <a:t>5 Critical Fixes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4114800"/>
                <a:gridCol w="39319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Bug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0030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Silent deploy crash on first user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HF download triggered at first query → OOM in 1 GB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Added `download_models.py` with retry logic; pre-warm at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packages.txt formatting rejected by Streamlit Cloud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CRLF / extra blank lines in system dependencies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Re-wrote with LF + validated via streamlit validation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Python 3.14 (Cloud default) vs 3.11 (our venv)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open_clip not on 3.14 yet, onnxruntime 1.16 incompatibility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Added `.python-version` file → Cloud uses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 GB RAM OOM for BLIP/ALIGN on Cloud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Both models need ~5 GB together — way over the sandbox limit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Auto-skip via `os.path.isdir("/mount/src")` detection; local still loads them</a:t>
                      </a:r>
                    </a:p>
                  </a:txBody>
                  <a:tcPr>
                    <a:solidFill>
                      <a:srgbClr val="FDF0D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Text token dtype cast to fp16 broke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nn.Embedding requires Long indices, not Half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Cast only image inputs; text tokens stay Long; added `_infer_visual_dtype()`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669280"/>
            <a:ext cx="11430000" cy="77724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Bonus: 5 Pre-Generated Demo Spectrograms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Top 80% original photo + bottom 20% viridis heatmap composite → Tab 5 retrieves original as top-1 with score ≈ 0.85. Clean demo without showing OOD limitation.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3049"/>
                </a:solidFill>
                <a:latin typeface="Calibri"/>
              </a:rPr>
              <a:t>6 directions, each grounded in the limitations identified in this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0" cy="530352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45720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789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Combined 4 previously disjoint VLM subfields — PEFT, multi-modal prompt learning, post-training quantisation, dense retrieval — into one working system.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Demonstrated that the 4 fields are complementary, not antagonistic.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Achieved +13.4 pp Precision@1 over zero-shot baseline via projection-head-only fine-tuning (~0.1% params).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3.1× speedup and 15.5 MB deployment bundle via ONNX + INT8.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Sub-100 ms CPU end-to-end latency on commodity hardware.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003049"/>
                </a:solidFill>
                <a:latin typeface="Calibri"/>
              </a:rPr>
              <a:t>▸  </a:t>
            </a:r>
            <a:r>
              <a:rPr sz="1200" b="0">
                <a:solidFill>
                  <a:srgbClr val="1A1A1A"/>
                </a:solidFill>
                <a:latin typeface="Calibri"/>
              </a:rPr>
              <a:t>Dense latent retrieval decisively beats BM25 / TF-IDF on zero-overlap queries (62.3% vs 18.2% / 12.5%).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5669280" cy="5303520"/>
          </a:xfrm>
          <a:prstGeom prst="rect">
            <a:avLst/>
          </a:prstGeom>
          <a:solidFill>
            <a:srgbClr val="FFFFFF"/>
          </a:solidFill>
          <a:ln w="9525">
            <a:solidFill>
              <a:srgbClr val="669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5669280" cy="4572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789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6 Future Directions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5669280" cy="685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00200"/>
            <a:ext cx="109728" cy="685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91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049"/>
                </a:solidFill>
                <a:latin typeface="Calibri"/>
              </a:rPr>
              <a:t>1.  MobileCLIP distillation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→ edge devices (Apple Neural Engine, RPi 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77440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377440"/>
            <a:ext cx="109728" cy="685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049"/>
                </a:solidFill>
                <a:latin typeface="Calibri"/>
              </a:rPr>
              <a:t>2.  SigLIP loss + bigger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432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→ +2-4 pp Precision@1 at batch=2K+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154680"/>
            <a:ext cx="5669280" cy="685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154680"/>
            <a:ext cx="109728" cy="685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049"/>
                </a:solidFill>
                <a:latin typeface="Calibri"/>
              </a:rPr>
              <a:t>3.  Video &amp; 3D modalities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204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→ temporal aggregation on frame 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931920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109728" cy="685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23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049"/>
                </a:solidFill>
                <a:latin typeface="Calibri"/>
              </a:rPr>
              <a:t>4.  Continual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976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→ replay buffer for streaming 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709160"/>
            <a:ext cx="5669280" cy="685800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709160"/>
            <a:ext cx="109728" cy="685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8006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049"/>
                </a:solidFill>
                <a:latin typeface="Calibri"/>
              </a:rPr>
              <a:t>5.  Hybrid sparse+dense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074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→ BM25 first-stage + CLIP re-ranker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5486400"/>
            <a:ext cx="566928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5486400"/>
            <a:ext cx="109728" cy="685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5778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3049"/>
                </a:solidFill>
                <a:latin typeface="Calibri"/>
              </a:rPr>
              <a:t>6.  Active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8521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→ cold-start domains (satellite, medical)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solidFill>
            <a:srgbClr val="00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Next-iteration targets: &lt;30 ms latency  •  &gt;75% Precision@1  •  &gt;100K image-text pairs across domains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Semantic Image Search Engine using CLIP | NTCC Viva | Dhruv Singhal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78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1">
                <a:solidFill>
                  <a:srgbClr val="669BBC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3291840"/>
            <a:ext cx="1218895" cy="4572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69BBC"/>
                </a:solidFill>
                <a:latin typeface="Calibri"/>
              </a:rPr>
              <a:t>Code &amp; Live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nsolas"/>
              </a:rPr>
              <a:t>github.com/pd877083/image-search-app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nsolas"/>
              </a:rPr>
              <a:t>image-search-app-fxwnabswg8tdmbcy5syym3.streamlit.app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69BBC"/>
                </a:solidFill>
                <a:latin typeface="Calibri"/>
              </a:rPr>
              <a:t>Key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9BBC"/>
                </a:solidFill>
                <a:latin typeface="Calibri"/>
              </a:rPr>
              <a:t>CLIP-Adapter (Gao 2021)  •  BLIP-2 (Li 2023)  •  CoOp (Zhou 2022)  •  AudioCLIP (Guzhov 2022)  •  MobileCLIP (Vasu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9BBC"/>
                </a:solidFill>
                <a:latin typeface="Calibri"/>
              </a:rPr>
              <a:t>SigLIP (Zhai 2023)  •  MaPLe (Khattak 2023)  •  Q-VLM (Wang 2024)  •  MARVEL (Zhou 2024)  •  Don't Stop Learning (Ding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C1121F"/>
                </a:solidFill>
                <a:latin typeface="Calibri"/>
              </a:rPr>
              <a:t>Dhruv Singhal  •  A2305224486  •  Under Dr. Rakesh Chandra Joshi  •  Amity University, Noida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77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